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05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7432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Correlation of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Telemetry &amp; Transactional Behaviour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dots between suspicious logins and suspicious money movement — before the money leaves the bank.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7589520" cy="1965960"/>
          </a:xfrm>
          <a:prstGeom prst="roundRect">
            <a:avLst>
              <a:gd name="adj" fmla="val 5581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pic>
        <p:nvPicPr>
          <p:cNvPr id="8" name="Image 0" descr="icons/user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348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4407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BLITZ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4773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1st-year B.Tech CSE students using Machine Learning to bridge cybersecurity and financial fraud detection.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3492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  •   Prerit   •   Harsh   •   </a:t>
            </a:r>
            <a:r>
              <a:rPr lang="en-US" sz="1250" b="1" dirty="0" err="1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Bedabrata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July 13, 2026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927D3C-0277-8F11-B092-6565711BA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 watch the same criminal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never talk to each other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SELECTED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Correlation of Cybersecurity Telemetry &amp; Transactional Behaviour.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monitor suspicious logins and suspicious transfers in separate systems. Our unified AI connects the dots — catching a stolen-credential login that immediately moves money, or a silent data hoard staged for future decryption.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pic>
        <p:nvPicPr>
          <p:cNvPr id="8" name="Image 0" descr="icons/lo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240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0" y="27889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0" y="20116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pic>
        <p:nvPicPr>
          <p:cNvPr id="11" name="Image 1" descr="icons/ba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0" y="27889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888411" y="228599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949440" y="379476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pic>
        <p:nvPicPr>
          <p:cNvPr id="15" name="Image 2" descr="icons/cpu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072" y="418162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39776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correlation AI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what isolated systems miss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CD420D7A-9459-EDED-88B0-538324D51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assume, use, and build 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AF2F5"/>
          </a:solidFill>
          <a:ln w="12700">
            <a:solidFill>
              <a:srgbClr val="E1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545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514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21992"/>
            <a:ext cx="237744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434840" y="2221992"/>
            <a:ext cx="66751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banking logs are available, combining user session data with transaction amounts.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9090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0690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776472"/>
            <a:ext cx="237744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34840" y="3776472"/>
            <a:ext cx="66751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banking data is confidential, so we generate a synthetic dataset: thousands of normal actions with a few dozen injected malicious attacks.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1663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AF2F5"/>
          </a:solidFill>
          <a:ln w="12700">
            <a:solidFill>
              <a:srgbClr val="E1E9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54635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monito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623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5330952"/>
            <a:ext cx="237744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434840" y="5330952"/>
            <a:ext cx="66751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Python environment — Jupyter Notebooks for testing, VS Code for development.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5791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C63F51D6-E6E0-A49B-57DF-EB929DE3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lean, proven Python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AF2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5603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7203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661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&amp; data handling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1945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5737860" y="2560320"/>
            <a:ext cx="822960" cy="822960"/>
          </a:xfrm>
          <a:prstGeom prst="ellipse">
            <a:avLst/>
          </a:prstGeom>
          <a:solidFill>
            <a:srgbClr val="F2B441"/>
          </a:solidFill>
          <a:ln/>
        </p:spPr>
      </p:sp>
      <p:pic>
        <p:nvPicPr>
          <p:cNvPr id="12" name="Image 1" descr="icons/databas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7203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5661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0" y="38404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• NumPy • Scikit-Learn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63440" y="4617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anomaly-detection AI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0" y="21945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AF2F5"/>
          </a:solidFill>
          <a:ln/>
        </p:spPr>
      </p:sp>
      <p:sp>
        <p:nvSpPr>
          <p:cNvPr id="17" name="Shape 13"/>
          <p:cNvSpPr/>
          <p:nvPr/>
        </p:nvSpPr>
        <p:spPr>
          <a:xfrm>
            <a:off x="9578340" y="25603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monito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27203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5661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412480" y="38404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03920" y="4617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interactive dashboard for bank admins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88E79156-F509-0886-B4EC-4E3A8B40A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FUNCTIONAL DOCUMENTS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threat is caught, step by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67178" cy="3291840"/>
          </a:xfrm>
          <a:prstGeom prst="roundRect">
            <a:avLst>
              <a:gd name="adj" fmla="val 3562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6469" y="2606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66469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61" y="27706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52044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4069080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reads combined CSV logs: IP address, device, transfer amount, data downloaded.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15818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90138" y="2286000"/>
            <a:ext cx="2567178" cy="3291840"/>
          </a:xfrm>
          <a:prstGeom prst="roundRect">
            <a:avLst>
              <a:gd name="adj" fmla="val 3562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07967" y="2606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4307967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4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559" y="27706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54730" y="352044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Processing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91306" y="4069080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ML model scans the combined logs for outliers.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57316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31636" y="2286000"/>
            <a:ext cx="2567178" cy="3291840"/>
          </a:xfrm>
          <a:prstGeom prst="roundRect">
            <a:avLst>
              <a:gd name="adj" fmla="val 3562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49465" y="2606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6"/>
          <p:cNvSpPr/>
          <p:nvPr/>
        </p:nvSpPr>
        <p:spPr>
          <a:xfrm>
            <a:off x="7149465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2" descr="icons/bra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057" y="277063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96228" y="352044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32804" y="4069080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flags when a suspicious login also triggers an unusually large transfer.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798814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073134" y="2286000"/>
            <a:ext cx="2567178" cy="3291840"/>
          </a:xfrm>
          <a:prstGeom prst="roundRect">
            <a:avLst>
              <a:gd name="adj" fmla="val 3562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990963" y="2606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2"/>
          <p:cNvSpPr/>
          <p:nvPr/>
        </p:nvSpPr>
        <p:spPr>
          <a:xfrm>
            <a:off x="9990963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3" descr="icons/moni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5555" y="277063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37726" y="3520440"/>
            <a:ext cx="22379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Output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274302" y="4069080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plain-English alert on the dashboard for the admin.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D598CCA6-7CCC-FF6C-9648-70199D148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 &amp; ADOPTION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red X — an explanation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pic>
        <p:nvPicPr>
          <p:cNvPr id="5" name="Image 0" descr="icons/targe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77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450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30632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solutions just block a transaction with an error code. We provide Explainable AI — telling the admin exactly why a transaction was flagged.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4343400"/>
            <a:ext cx="4754880" cy="1325880"/>
          </a:xfrm>
          <a:prstGeom prst="roundRect">
            <a:avLst>
              <a:gd name="adj" fmla="val 6897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5262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"User logged in from new IP and transferred 500% of their usual average."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pic>
        <p:nvPicPr>
          <p:cNvPr id="11" name="Image 1" descr="icons/compas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774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450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PLAN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37960" y="30632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lightweight API alongside existing banking dashboards — no need to replace legacy systems.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537960" y="418795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4069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existing bank IT stack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37960" y="47548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6812280" y="4636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legacy system replacement needed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37960" y="53218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2029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pilot-to-production path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98CE245-0998-8477-5420-B51585702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SUPPORTING MATERIAL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code lives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pic>
        <p:nvPicPr>
          <p:cNvPr id="5" name="Image 0" descr="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5059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423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github.com/herobhai69/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SnoopLog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880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ML-powered threat intelligence prototype built with Python and </a:t>
            </a:r>
            <a:r>
              <a:rPr lang="en-US" sz="1150" i="1" dirty="0" err="1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1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correlates network security logs with financial ledger anomalies to detect complex fraud.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1091672" cy="2286000"/>
          </a:xfrm>
          <a:prstGeom prst="roundRect">
            <a:avLst>
              <a:gd name="adj" fmla="val 40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D6E4EA"/>
            </a:solidFill>
            <a:prstDash val="dash"/>
          </a:ln>
        </p:spPr>
      </p:sp>
      <p:pic>
        <p:nvPicPr>
          <p:cNvPr id="9" name="Image 1" descr="icons/ba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206240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56235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EF11FA6-5CCD-3E30-5288-7EC4587BA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POTENTIAL &amp; RELEVANCE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banks would pay for this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pic>
        <p:nvPicPr>
          <p:cNvPr id="5" name="Image 0" descr="icons/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77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4505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306324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account-takeover (ATO) fraud and defends proactively against "harvest-now-decrypt-later" quantum attacks, by flagging massive, unusual data downloads.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210312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</p:spPr>
      </p:sp>
      <p:pic>
        <p:nvPicPr>
          <p:cNvPr id="9" name="Image 1" descr="icons/trend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3774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2450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83680" y="306324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live banking APIs to automatically pause suspicious transactions before the money ever leaves the bank.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B939B2B-E4F9-63F6-C76D-5F398CE36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OF APPROACH AND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by design, not by accident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aren’t building a massive, resource-heavy neural network. Isolation Forest anomaly detection paired with simple rule-based correlation runs incredibly fast on basic hardware.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20116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BEDEE"/>
          </a:solidFill>
          <a:ln w="12700">
            <a:solidFill>
              <a:srgbClr val="F0D3D6"/>
            </a:solidFill>
            <a:prstDash val="solid"/>
          </a:ln>
        </p:spPr>
      </p:sp>
      <p:pic>
        <p:nvPicPr>
          <p:cNvPr id="6" name="Image 0" descr="icons/cpu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neural net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60920" y="2606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GPU-hungry, hard to explain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37490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pic>
        <p:nvPicPr>
          <p:cNvPr id="10" name="Image 1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069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CyberSync approach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60920" y="43434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rules — fast, explainable, runs on basic hardware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4114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60-70%</a:t>
            </a:r>
            <a:endParaRPr lang="en-US" sz="4200" dirty="0"/>
          </a:p>
        </p:txBody>
      </p:sp>
      <p:sp>
        <p:nvSpPr>
          <p:cNvPr id="15" name="Text 11"/>
          <p:cNvSpPr/>
          <p:nvPr/>
        </p:nvSpPr>
        <p:spPr>
          <a:xfrm>
            <a:off x="3200400" y="41605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compute footprint vs. a comparable deep-learning pipeline, by relying on classical ML instead of neural networks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607757A5-6EB6-72E9-A964-E850E3FE1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bank security admin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dark-mode Streamlit dashboard that never overwhelms with raw data — alerts are separated by risk, written in plain sentences, with quick action buttons.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1722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FEED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212F3D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4005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00507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New-IP login + 500% transfer spike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212F3D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47823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2B44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823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4709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device, normal amount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3949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94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5394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2C3B4A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5394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LEGEND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468880"/>
            <a:ext cx="201168" cy="685800"/>
          </a:xfrm>
          <a:prstGeom prst="roundRect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441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3232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review — credential + transaction anomaly together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3383280"/>
            <a:ext cx="201168" cy="685800"/>
          </a:xfrm>
          <a:prstGeom prst="roundRect">
            <a:avLst/>
          </a:prstGeom>
          <a:solidFill>
            <a:srgbClr val="F2B441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3355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Risk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Single-signal anomaly — worth a quick look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4434840"/>
            <a:ext cx="4846320" cy="1554480"/>
          </a:xfrm>
          <a:prstGeom prst="roundRect">
            <a:avLst>
              <a:gd name="adj" fmla="val 5882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pic>
        <p:nvPicPr>
          <p:cNvPr id="27" name="Image 0" descr="icons/ey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66344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635240" y="461772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data dumps — every alert is a plain-English sentence an admin can act on in seconds.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64F020B3-02A1-125E-C1A5-691164006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static CSV to millions of transactions a second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67178" cy="3200400"/>
          </a:xfrm>
          <a:prstGeom prst="roundRect">
            <a:avLst>
              <a:gd name="adj" fmla="val 3562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9329" y="26060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205" y="27523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74720"/>
            <a:ext cx="22928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22014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CSV logs processed in a local Python environment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15818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90138" y="2286000"/>
            <a:ext cx="2567178" cy="3200400"/>
          </a:xfrm>
          <a:prstGeom prst="roundRect">
            <a:avLst>
              <a:gd name="adj" fmla="val 3562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0827" y="26060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703" y="27523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7298" y="3474720"/>
            <a:ext cx="22928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73018" y="4023360"/>
            <a:ext cx="22014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architecture connects to a real-time data pipeline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57316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231636" y="2286000"/>
            <a:ext cx="2567178" cy="3200400"/>
          </a:xfrm>
          <a:prstGeom prst="roundRect">
            <a:avLst>
              <a:gd name="adj" fmla="val 3562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72325" y="26060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201" y="275234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8796" y="3474720"/>
            <a:ext cx="22928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Kafka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14516" y="4023360"/>
            <a:ext cx="22014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live telemetry across the bank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98814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073134" y="2286000"/>
            <a:ext cx="2567178" cy="3200400"/>
          </a:xfrm>
          <a:prstGeom prst="roundRect">
            <a:avLst>
              <a:gd name="adj" fmla="val 3562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13823" y="2606040"/>
            <a:ext cx="685800" cy="685800"/>
          </a:xfrm>
          <a:prstGeom prst="ellipse">
            <a:avLst/>
          </a:prstGeom>
          <a:solidFill>
            <a:srgbClr val="F2B441"/>
          </a:solidFill>
          <a:ln/>
        </p:spPr>
      </p:sp>
      <p:pic>
        <p:nvPicPr>
          <p:cNvPr id="24" name="Image 3" descr="icons/lay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4699" y="275234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0294" y="3474720"/>
            <a:ext cx="22928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Multi-branch scale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56014" y="4023360"/>
            <a:ext cx="22014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transactions/sec across every branch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94323CA4-EAB8-6C7D-15DC-88DCC165F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DEPLOYMENT AND MAINTENANCE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it, run it, forget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6334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Python means the entire solution can be containerized using Docker.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4688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to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334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teams spin up or restart the service on any standard cloud server (AWS/Azure) in minutes.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24688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6334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Dependencies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stack keeps setup and updates fast, with little ongoing overhead.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0ACF24A3-C136-773D-E8E3-04AAAC53D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777240" cy="777240"/>
          </a:xfrm>
          <a:prstGeom prst="ellipse">
            <a:avLst/>
          </a:prstGeom>
          <a:solidFill>
            <a:srgbClr val="F2B441"/>
          </a:solidFill>
          <a:ln/>
        </p:spPr>
      </p:sp>
      <p:pic>
        <p:nvPicPr>
          <p:cNvPr id="6" name="Image 0" descr="icons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6243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model processes data locally / on-premise — sensitive financial telemetry never leaves the bank’s secure network.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210312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423160"/>
            <a:ext cx="777240" cy="777240"/>
          </a:xfrm>
          <a:prstGeom prst="ellipse">
            <a:avLst/>
          </a:prstGeom>
          <a:solidFill>
            <a:srgbClr val="F2B441"/>
          </a:solidFill>
          <a:ln/>
        </p:spPr>
      </p:sp>
      <p:pic>
        <p:nvPicPr>
          <p:cNvPr id="11" name="Image 1" descr="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6243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429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39776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features mock role-based access, so only authorized security personnel view the threat intelligence feed.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3FD95790-0C29-A45F-3976-7DE6A22F3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architecture, end to 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32888" cy="22860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27432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9123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0332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+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81528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01568" y="2468880"/>
            <a:ext cx="2532888" cy="22860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9392" y="2743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29123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70332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(Pandas)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934456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254496" y="2468880"/>
            <a:ext cx="2532888" cy="22860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0" y="27432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84" y="29123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370332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Engine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(Scikit-Learn)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787384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107424" y="2468880"/>
            <a:ext cx="2532888" cy="22860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5248" y="27432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moni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9123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4584" y="370332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(Streamlit)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every login and transfer is captured, cleaned, scored for anomalies, and surfaced as a plain-English alert.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B9070BCD-DB35-265D-43E5-9483098F2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SCREENSHOTS, VIDEO &amp; GITHUB LINK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25780" y="1454518"/>
            <a:ext cx="6309360" cy="4900873"/>
          </a:xfrm>
          <a:prstGeom prst="roundRect">
            <a:avLst>
              <a:gd name="adj" fmla="val 2703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dash"/>
          </a:ln>
        </p:spPr>
      </p:sp>
      <p:pic>
        <p:nvPicPr>
          <p:cNvPr id="5" name="Image 0" descr="icons/monito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0632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029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add 1–2 screenshots of the Streamlit web UI here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78040" y="2103120"/>
            <a:ext cx="4480560" cy="1508760"/>
          </a:xfrm>
          <a:prstGeom prst="roundRect">
            <a:avLst>
              <a:gd name="adj" fmla="val 6061"/>
            </a:avLst>
          </a:prstGeom>
          <a:solidFill>
            <a:srgbClr val="21295C"/>
          </a:solidFill>
          <a:ln/>
        </p:spPr>
      </p:sp>
      <p:pic>
        <p:nvPicPr>
          <p:cNvPr id="8" name="Image 1" descr="icons/play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3774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8388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183880" y="263347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1.5-minute screen recording —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https://youtu.be/1yIgfY40piQ (YouTube)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794760"/>
            <a:ext cx="4480560" cy="1691640"/>
          </a:xfrm>
          <a:prstGeom prst="roundRect">
            <a:avLst>
              <a:gd name="adj" fmla="val 5405"/>
            </a:avLst>
          </a:prstGeom>
          <a:solidFill>
            <a:srgbClr val="EAF2F5"/>
          </a:solidFill>
          <a:ln w="12700">
            <a:solidFill>
              <a:srgbClr val="D6E4EA"/>
            </a:solidFill>
            <a:prstDash val="solid"/>
          </a:ln>
        </p:spPr>
      </p:sp>
      <p:pic>
        <p:nvPicPr>
          <p:cNvPr id="12" name="Image 2" descr="icons/github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0690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40416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138160" y="431596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github.com/herobhai69/</a:t>
            </a:r>
            <a:r>
              <a:rPr lang="en-US" sz="13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SnoopLog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38160" y="4709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README, and setup instructions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7EC6C5C-F338-2328-3C00-7BC9D4FBB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03EA6E-72F2-E98E-2CF6-D802A2D56E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776" y="1513156"/>
            <a:ext cx="6168683" cy="26886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C46ADC-C967-501D-FB5F-CCB47BEDD1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530" y="4370832"/>
            <a:ext cx="6168683" cy="18950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Blitz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future of secure banking — thank you to the Finspark mentors for the opportunity.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3060" y="3639312"/>
            <a:ext cx="640080" cy="64008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9" name="Text 7"/>
          <p:cNvSpPr/>
          <p:nvPr/>
        </p:nvSpPr>
        <p:spPr>
          <a:xfrm>
            <a:off x="1623060" y="3639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Logic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3383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7700" y="3639312"/>
            <a:ext cx="640080" cy="64008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4" name="Text 12"/>
          <p:cNvSpPr/>
          <p:nvPr/>
        </p:nvSpPr>
        <p:spPr>
          <a:xfrm>
            <a:off x="4457700" y="3639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1188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Prerit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11880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2340" y="3639312"/>
            <a:ext cx="640080" cy="64008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9" name="Text 17"/>
          <p:cNvSpPr/>
          <p:nvPr/>
        </p:nvSpPr>
        <p:spPr>
          <a:xfrm>
            <a:off x="7292340" y="3639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6520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Integration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3383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A2350"/>
          </a:solidFill>
          <a:ln w="12700">
            <a:solidFill>
              <a:srgbClr val="3240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26980" y="3639312"/>
            <a:ext cx="640080" cy="64008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24" name="Text 22"/>
          <p:cNvSpPr/>
          <p:nvPr/>
        </p:nvSpPr>
        <p:spPr>
          <a:xfrm>
            <a:off x="10126980" y="3639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8116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Bedabrata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81160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Presentation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TheFraudFather@hotmail.com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FINSPARK HACKATHON 2026  |  TEAM BLITZ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8CAB631-25F5-8AEC-0BBD-433DDD451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63500"/>
            <a:ext cx="2336800" cy="3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1132</Words>
  <Application>Microsoft Office PowerPoint</Application>
  <PresentationFormat>Widescreen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Kartik Sharma</cp:lastModifiedBy>
  <cp:revision>18</cp:revision>
  <dcterms:created xsi:type="dcterms:W3CDTF">2026-07-13T10:13:13Z</dcterms:created>
  <dcterms:modified xsi:type="dcterms:W3CDTF">2026-07-15T13:53:16Z</dcterms:modified>
</cp:coreProperties>
</file>